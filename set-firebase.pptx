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9" r:id="rId13"/>
    <p:sldId id="268" r:id="rId14"/>
    <p:sldId id="271" r:id="rId15"/>
    <p:sldId id="272" r:id="rId16"/>
    <p:sldId id="274" r:id="rId17"/>
    <p:sldId id="273" r:id="rId18"/>
    <p:sldId id="297" r:id="rId19"/>
    <p:sldId id="275" r:id="rId20"/>
    <p:sldId id="298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9" r:id="rId38"/>
    <p:sldId id="292" r:id="rId39"/>
    <p:sldId id="293" r:id="rId40"/>
    <p:sldId id="294" r:id="rId41"/>
    <p:sldId id="295" r:id="rId42"/>
    <p:sldId id="296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81772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41668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456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02673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223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8522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18337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8101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74616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7997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2867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489B04E-28E6-41E9-8EFD-42EA499081C1}" type="datetimeFigureOut">
              <a:rPr lang="id-ID" smtClean="0"/>
              <a:t>16/11/2025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5968BA6-D04C-40DD-8D8B-5F35267F9CE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1140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2oog/mobile_test_firebase" TargetMode="Externa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AD56B-878B-5994-D7EC-A258FB23AE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 err="1"/>
              <a:t>Flutter</a:t>
            </a:r>
            <a:r>
              <a:rPr lang="id-ID" dirty="0"/>
              <a:t> + </a:t>
            </a:r>
            <a:r>
              <a:rPr lang="id-ID" dirty="0" err="1"/>
              <a:t>Firebase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A06C0-161C-4FAB-75E2-A6E0FBE838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d-ID" dirty="0"/>
              <a:t>17.11.2025</a:t>
            </a:r>
          </a:p>
          <a:p>
            <a:r>
              <a:rPr lang="id-ID" dirty="0"/>
              <a:t>-</a:t>
            </a:r>
            <a:r>
              <a:rPr lang="id-ID" dirty="0" err="1"/>
              <a:t>ghifari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208518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2CBA-C2D3-F2BF-9B7F-90F28F20D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Setting</a:t>
            </a:r>
            <a:r>
              <a:rPr lang="id-ID" dirty="0"/>
              <a:t>/Daftar </a:t>
            </a:r>
            <a:r>
              <a:rPr lang="id-ID" dirty="0" err="1"/>
              <a:t>Firebase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E6E11-CD39-B61C-6FDE-D622F8B61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Jaga-jaga </a:t>
            </a:r>
            <a:r>
              <a:rPr lang="id-ID" dirty="0" err="1"/>
              <a:t>aja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595060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148565-96AA-2229-2F85-0C2EA461D59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50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AE234A9-4C9E-3B2E-A807-0EABA9BCCBF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5D428632-07D8-51A0-65DE-44AD635F816D}"/>
              </a:ext>
            </a:extLst>
          </p:cNvPr>
          <p:cNvSpPr/>
          <p:nvPr/>
        </p:nvSpPr>
        <p:spPr>
          <a:xfrm>
            <a:off x="6452559" y="979096"/>
            <a:ext cx="2286000" cy="2518914"/>
          </a:xfrm>
          <a:prstGeom prst="upArrow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1781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CB7EF6-771B-C925-A4B5-1C4D3EB841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8C7F5A-7ACE-0944-BBE4-00D948342651}"/>
              </a:ext>
            </a:extLst>
          </p:cNvPr>
          <p:cNvSpPr/>
          <p:nvPr/>
        </p:nvSpPr>
        <p:spPr>
          <a:xfrm>
            <a:off x="2950234" y="3795623"/>
            <a:ext cx="3191774" cy="3795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CFD3B-CA44-A5BA-6811-45C477A3AC5A}"/>
              </a:ext>
            </a:extLst>
          </p:cNvPr>
          <p:cNvSpPr txBox="1"/>
          <p:nvPr/>
        </p:nvSpPr>
        <p:spPr>
          <a:xfrm>
            <a:off x="5753819" y="3287791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5F8634-9C15-C2A5-E6D7-56EE49146F3B}"/>
              </a:ext>
            </a:extLst>
          </p:cNvPr>
          <p:cNvSpPr/>
          <p:nvPr/>
        </p:nvSpPr>
        <p:spPr>
          <a:xfrm>
            <a:off x="5486400" y="4980563"/>
            <a:ext cx="741872" cy="37956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342DA4-BA84-A0E0-9BF2-91E185B4EC60}"/>
              </a:ext>
            </a:extLst>
          </p:cNvPr>
          <p:cNvSpPr txBox="1"/>
          <p:nvPr/>
        </p:nvSpPr>
        <p:spPr>
          <a:xfrm>
            <a:off x="5930754" y="4472731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82983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645793-CA84-36CC-1928-3771228FBEB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9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0E6B-65B1-5B49-D211-93F266CB9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Set </a:t>
            </a:r>
            <a:r>
              <a:rPr lang="id-ID" dirty="0" err="1"/>
              <a:t>Up</a:t>
            </a:r>
            <a:r>
              <a:rPr lang="id-ID" dirty="0"/>
              <a:t> </a:t>
            </a:r>
            <a:r>
              <a:rPr lang="id-ID" dirty="0" err="1"/>
              <a:t>Firebase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6FB93-5ABA-1C12-3A47-2BA48C269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1. </a:t>
            </a:r>
            <a:r>
              <a:rPr lang="id-ID" dirty="0" err="1"/>
              <a:t>Download</a:t>
            </a:r>
            <a:r>
              <a:rPr lang="id-ID" dirty="0"/>
              <a:t> Node.js</a:t>
            </a:r>
          </a:p>
        </p:txBody>
      </p:sp>
    </p:spTree>
    <p:extLst>
      <p:ext uri="{BB962C8B-B14F-4D97-AF65-F5344CB8AC3E}">
        <p14:creationId xmlns:p14="http://schemas.microsoft.com/office/powerpoint/2010/main" val="2899723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178446-90C4-679F-097C-BBF375B820F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28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76CA3E-B6C8-C531-704E-ECF5B1DBA59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4" name="Arrow: Up 3">
            <a:extLst>
              <a:ext uri="{FF2B5EF4-FFF2-40B4-BE49-F238E27FC236}">
                <a16:creationId xmlns:a16="http://schemas.microsoft.com/office/drawing/2014/main" id="{56F557AD-3930-9A86-DB69-1231A09805B3}"/>
              </a:ext>
            </a:extLst>
          </p:cNvPr>
          <p:cNvSpPr/>
          <p:nvPr/>
        </p:nvSpPr>
        <p:spPr>
          <a:xfrm>
            <a:off x="1509622" y="979096"/>
            <a:ext cx="2286000" cy="2518914"/>
          </a:xfrm>
          <a:prstGeom prst="upArrow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59485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78BE0B-A40A-78B3-D7B9-8B0957C2ADA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4" name="Arrow: Up 3">
            <a:extLst>
              <a:ext uri="{FF2B5EF4-FFF2-40B4-BE49-F238E27FC236}">
                <a16:creationId xmlns:a16="http://schemas.microsoft.com/office/drawing/2014/main" id="{D7D22863-C04F-86C4-F1AB-FCB082931C6E}"/>
              </a:ext>
            </a:extLst>
          </p:cNvPr>
          <p:cNvSpPr/>
          <p:nvPr/>
        </p:nvSpPr>
        <p:spPr>
          <a:xfrm rot="10800000">
            <a:off x="1095554" y="3299602"/>
            <a:ext cx="2286000" cy="2518914"/>
          </a:xfrm>
          <a:prstGeom prst="upArrow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46649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80B312-A545-CDD0-076F-3D3D6C971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3171825"/>
            <a:ext cx="4714875" cy="36861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45E6C6-83BD-5157-BCE9-78063497F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148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315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90007-C20F-4340-1BC5-64718CBC9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5D98A-9084-59AA-A0D7-F032D4FB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Set </a:t>
            </a:r>
            <a:r>
              <a:rPr lang="id-ID" dirty="0" err="1"/>
              <a:t>Up</a:t>
            </a:r>
            <a:r>
              <a:rPr lang="id-ID" dirty="0"/>
              <a:t> </a:t>
            </a:r>
            <a:r>
              <a:rPr lang="id-ID" dirty="0" err="1"/>
              <a:t>Firebase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85719-3F66-D5C9-F971-0EB3EA4AA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2. Buat </a:t>
            </a:r>
            <a:r>
              <a:rPr lang="id-ID" dirty="0" err="1"/>
              <a:t>Flutter</a:t>
            </a:r>
            <a:r>
              <a:rPr lang="id-ID" dirty="0"/>
              <a:t> Baru</a:t>
            </a:r>
          </a:p>
        </p:txBody>
      </p:sp>
    </p:spTree>
    <p:extLst>
      <p:ext uri="{BB962C8B-B14F-4D97-AF65-F5344CB8AC3E}">
        <p14:creationId xmlns:p14="http://schemas.microsoft.com/office/powerpoint/2010/main" val="303356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FD06C3-BDB7-783C-4B0A-947689E1F00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0772"/>
            <a:ext cx="4571999" cy="41764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886A66-3608-FD39-68B0-AD32B7E5C4A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99" y="1340770"/>
            <a:ext cx="4571999" cy="417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64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A46860-817C-6E87-2611-D28C9FBA4EA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190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959B213-900B-26D2-A1D8-1E21066B63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9"/>
            <a:ext cx="24593550" cy="184323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3232340-4635-126D-5B4D-57D71C3F39BF}"/>
              </a:ext>
            </a:extLst>
          </p:cNvPr>
          <p:cNvSpPr/>
          <p:nvPr/>
        </p:nvSpPr>
        <p:spPr>
          <a:xfrm>
            <a:off x="816107" y="771304"/>
            <a:ext cx="1296777" cy="5603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6CA5C-469F-434C-E431-1FB0ADBC2BA1}"/>
              </a:ext>
            </a:extLst>
          </p:cNvPr>
          <p:cNvSpPr/>
          <p:nvPr/>
        </p:nvSpPr>
        <p:spPr>
          <a:xfrm>
            <a:off x="816108" y="2344370"/>
            <a:ext cx="2415363" cy="428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3FA87C-7E64-87A3-D90D-32BB87D88F6D}"/>
              </a:ext>
            </a:extLst>
          </p:cNvPr>
          <p:cNvSpPr txBox="1"/>
          <p:nvPr/>
        </p:nvSpPr>
        <p:spPr>
          <a:xfrm>
            <a:off x="2112884" y="543644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ED2682-173E-A0AE-CB08-BA8565D3FE35}"/>
              </a:ext>
            </a:extLst>
          </p:cNvPr>
          <p:cNvSpPr txBox="1"/>
          <p:nvPr/>
        </p:nvSpPr>
        <p:spPr>
          <a:xfrm>
            <a:off x="3231471" y="2050638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8983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DCCFB-67CB-7238-CC50-6CE3681A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sz="9600" b="1" dirty="0">
                <a:latin typeface="Consolas" panose="020B0609020204030204" pitchFamily="49" charset="0"/>
              </a:rPr>
              <a:t>ALT+F12</a:t>
            </a:r>
            <a:endParaRPr lang="id-ID" b="1" dirty="0">
              <a:latin typeface="Consolas" panose="020B0609020204030204" pitchFamily="49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8DB86-7587-B2BC-A545-16736DFFD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id-ID" dirty="0"/>
              <a:t>Buat buka CMD/</a:t>
            </a:r>
            <a:r>
              <a:rPr lang="id-ID" dirty="0" err="1"/>
              <a:t>Console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41452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BA617D-31A5-4535-E402-7C2D402A830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705EB7F-EB28-128D-9C05-15194F922888}"/>
              </a:ext>
            </a:extLst>
          </p:cNvPr>
          <p:cNvSpPr/>
          <p:nvPr/>
        </p:nvSpPr>
        <p:spPr>
          <a:xfrm>
            <a:off x="209647" y="4431962"/>
            <a:ext cx="8718694" cy="22535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70513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593EA-E982-C4CA-0164-74A49951B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551C8-27A2-4156-4B53-8137C01D7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Set </a:t>
            </a:r>
            <a:r>
              <a:rPr lang="id-ID" dirty="0" err="1"/>
              <a:t>Up</a:t>
            </a:r>
            <a:r>
              <a:rPr lang="id-ID" dirty="0"/>
              <a:t> </a:t>
            </a:r>
            <a:r>
              <a:rPr lang="id-ID" dirty="0" err="1"/>
              <a:t>Firebase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821D7-59B7-E64F-09CB-E0357619E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3. Cek Instalasi Node.js</a:t>
            </a:r>
          </a:p>
        </p:txBody>
      </p:sp>
    </p:spTree>
    <p:extLst>
      <p:ext uri="{BB962C8B-B14F-4D97-AF65-F5344CB8AC3E}">
        <p14:creationId xmlns:p14="http://schemas.microsoft.com/office/powerpoint/2010/main" val="894285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793EC8-59EF-23A8-5E96-21E172FCD7D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64634"/>
            <a:ext cx="9144000" cy="299098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7622DA1-5088-468E-9ADF-AFB395DCE70B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7200" b="1" dirty="0" err="1">
                <a:latin typeface="Consolas" panose="020B0609020204030204" pitchFamily="49" charset="0"/>
              </a:rPr>
              <a:t>node</a:t>
            </a:r>
            <a:r>
              <a:rPr lang="id-ID" sz="7200" b="1" dirty="0">
                <a:latin typeface="Consolas" panose="020B0609020204030204" pitchFamily="49" charset="0"/>
              </a:rPr>
              <a:t> –-</a:t>
            </a:r>
            <a:r>
              <a:rPr lang="id-ID" sz="7200" b="1" dirty="0" err="1">
                <a:latin typeface="Consolas" panose="020B0609020204030204" pitchFamily="49" charset="0"/>
              </a:rPr>
              <a:t>version</a:t>
            </a:r>
            <a:endParaRPr lang="id-ID" sz="3200" b="1" dirty="0">
              <a:latin typeface="Consolas" panose="020B0609020204030204" pitchFamily="49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03594EF-F471-0C51-B451-3D3878858A91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Cek instalasi Node.js</a:t>
            </a:r>
          </a:p>
          <a:p>
            <a:pPr marL="0" indent="0" algn="ctr">
              <a:buNone/>
            </a:pPr>
            <a:r>
              <a:rPr lang="id-ID" sz="2000" dirty="0"/>
              <a:t>Kalo ada “v--.--.-” berarti berhasil</a:t>
            </a:r>
          </a:p>
        </p:txBody>
      </p:sp>
    </p:spTree>
    <p:extLst>
      <p:ext uri="{BB962C8B-B14F-4D97-AF65-F5344CB8AC3E}">
        <p14:creationId xmlns:p14="http://schemas.microsoft.com/office/powerpoint/2010/main" val="791787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3B3EB-5C5C-2BC5-1F25-402421422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9B7BC-CD60-0710-A666-0E2723789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Set </a:t>
            </a:r>
            <a:r>
              <a:rPr lang="id-ID" dirty="0" err="1"/>
              <a:t>Up</a:t>
            </a:r>
            <a:r>
              <a:rPr lang="id-ID" dirty="0"/>
              <a:t> </a:t>
            </a:r>
            <a:r>
              <a:rPr lang="id-ID" dirty="0" err="1"/>
              <a:t>Firebase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6C9E6-59AE-7872-1CC6-67FCDD34B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4. </a:t>
            </a:r>
            <a:r>
              <a:rPr lang="id-ID" b="1" u="sng" dirty="0"/>
              <a:t>SEKALI SAJA,</a:t>
            </a:r>
            <a:r>
              <a:rPr lang="id-ID" dirty="0"/>
              <a:t> Instalasi </a:t>
            </a:r>
            <a:r>
              <a:rPr lang="id-ID" dirty="0" err="1"/>
              <a:t>Firebase</a:t>
            </a:r>
            <a:r>
              <a:rPr lang="id-ID" dirty="0"/>
              <a:t> secara Global</a:t>
            </a:r>
          </a:p>
        </p:txBody>
      </p:sp>
    </p:spTree>
    <p:extLst>
      <p:ext uri="{BB962C8B-B14F-4D97-AF65-F5344CB8AC3E}">
        <p14:creationId xmlns:p14="http://schemas.microsoft.com/office/powerpoint/2010/main" val="3801957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78945-D9FA-7A7D-9458-F399A959E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D75A1C-72EE-72FE-D579-85547E3E255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81887"/>
            <a:ext cx="9144000" cy="297373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21A5FB-134B-38A2-4657-F5660081C5C7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3600" b="1" dirty="0" err="1">
                <a:latin typeface="Consolas" panose="020B0609020204030204" pitchFamily="49" charset="0"/>
              </a:rPr>
              <a:t>npm</a:t>
            </a:r>
            <a:r>
              <a:rPr lang="id-ID" sz="3600" b="1" dirty="0">
                <a:latin typeface="Consolas" panose="020B0609020204030204" pitchFamily="49" charset="0"/>
              </a:rPr>
              <a:t> </a:t>
            </a:r>
            <a:r>
              <a:rPr lang="id-ID" sz="3600" b="1" dirty="0" err="1">
                <a:latin typeface="Consolas" panose="020B0609020204030204" pitchFamily="49" charset="0"/>
              </a:rPr>
              <a:t>install</a:t>
            </a:r>
            <a:r>
              <a:rPr lang="id-ID" sz="3600" b="1" dirty="0">
                <a:latin typeface="Consolas" panose="020B0609020204030204" pitchFamily="49" charset="0"/>
              </a:rPr>
              <a:t> -g </a:t>
            </a:r>
            <a:r>
              <a:rPr lang="id-ID" sz="3600" b="1" dirty="0" err="1">
                <a:latin typeface="Consolas" panose="020B0609020204030204" pitchFamily="49" charset="0"/>
              </a:rPr>
              <a:t>firebase-tools</a:t>
            </a:r>
            <a:endParaRPr lang="id-ID" sz="1200" b="1" dirty="0">
              <a:latin typeface="Consolas" panose="020B0609020204030204" pitchFamily="49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0BFB5E4-229D-432E-4986-9DBB49A4450C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 err="1"/>
              <a:t>Install</a:t>
            </a:r>
            <a:r>
              <a:rPr lang="id-ID" sz="2000" dirty="0"/>
              <a:t> </a:t>
            </a:r>
            <a:r>
              <a:rPr lang="id-ID" sz="2000" dirty="0" err="1"/>
              <a:t>Firebase</a:t>
            </a:r>
            <a:r>
              <a:rPr lang="id-ID" sz="2000" dirty="0"/>
              <a:t> lewat NPM secara global</a:t>
            </a:r>
          </a:p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</a:t>
            </a:r>
            <a:r>
              <a:rPr lang="id-ID" sz="2000" dirty="0" err="1"/>
              <a:t>run</a:t>
            </a:r>
            <a:r>
              <a:rPr lang="id-ID" sz="2000" dirty="0"/>
              <a:t> ini!)</a:t>
            </a:r>
          </a:p>
        </p:txBody>
      </p:sp>
    </p:spTree>
    <p:extLst>
      <p:ext uri="{BB962C8B-B14F-4D97-AF65-F5344CB8AC3E}">
        <p14:creationId xmlns:p14="http://schemas.microsoft.com/office/powerpoint/2010/main" val="5072227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0BEB2-6025-A082-B465-2B264D95B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75727F-82A4-8D96-012B-1C72072A5C3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81887"/>
            <a:ext cx="9144000" cy="297373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96B155D-0B1C-D0B7-391E-D5E026861504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b="1" dirty="0" err="1">
                <a:latin typeface="Consolas" panose="020B0609020204030204" pitchFamily="49" charset="0"/>
              </a:rPr>
              <a:t>dart</a:t>
            </a:r>
            <a:r>
              <a:rPr lang="id-ID" b="1" dirty="0">
                <a:latin typeface="Consolas" panose="020B0609020204030204" pitchFamily="49" charset="0"/>
              </a:rPr>
              <a:t> pub global </a:t>
            </a:r>
            <a:r>
              <a:rPr lang="id-ID" b="1" dirty="0" err="1">
                <a:latin typeface="Consolas" panose="020B0609020204030204" pitchFamily="49" charset="0"/>
              </a:rPr>
              <a:t>activate</a:t>
            </a:r>
            <a:r>
              <a:rPr lang="id-ID" b="1" dirty="0">
                <a:latin typeface="Consolas" panose="020B0609020204030204" pitchFamily="49" charset="0"/>
              </a:rPr>
              <a:t> </a:t>
            </a:r>
            <a:r>
              <a:rPr lang="id-ID" b="1" dirty="0" err="1">
                <a:latin typeface="Consolas" panose="020B0609020204030204" pitchFamily="49" charset="0"/>
              </a:rPr>
              <a:t>flutterfire_cli</a:t>
            </a:r>
            <a:endParaRPr lang="id-ID" sz="1200" b="1" dirty="0">
              <a:latin typeface="Consolas" panose="020B0609020204030204" pitchFamily="49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C5E4E7D-3CBC-1CC6-39ED-B2AB0C5D5345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 err="1"/>
              <a:t>Install</a:t>
            </a:r>
            <a:r>
              <a:rPr lang="id-ID" sz="2000" dirty="0"/>
              <a:t> </a:t>
            </a:r>
            <a:r>
              <a:rPr lang="id-ID" sz="2000" dirty="0" err="1"/>
              <a:t>Flutter</a:t>
            </a:r>
            <a:r>
              <a:rPr lang="id-ID" sz="2000" dirty="0"/>
              <a:t> </a:t>
            </a:r>
            <a:r>
              <a:rPr lang="id-ID" sz="2000" dirty="0" err="1"/>
              <a:t>Fire</a:t>
            </a:r>
            <a:r>
              <a:rPr lang="id-ID" sz="2000" dirty="0"/>
              <a:t> CLI secara global</a:t>
            </a:r>
          </a:p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</a:t>
            </a:r>
            <a:r>
              <a:rPr lang="id-ID" sz="2000" dirty="0" err="1"/>
              <a:t>run</a:t>
            </a:r>
            <a:r>
              <a:rPr lang="id-ID" sz="2000" dirty="0"/>
              <a:t> ini!)</a:t>
            </a:r>
          </a:p>
        </p:txBody>
      </p:sp>
    </p:spTree>
    <p:extLst>
      <p:ext uri="{BB962C8B-B14F-4D97-AF65-F5344CB8AC3E}">
        <p14:creationId xmlns:p14="http://schemas.microsoft.com/office/powerpoint/2010/main" val="2751733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8182-C544-BA4A-F030-DB0B113A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5AF37F6-6CC0-779D-FD89-209217FAA0CE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3600" dirty="0">
                <a:latin typeface="+mn-lt"/>
              </a:rPr>
              <a:t>Kalau ada “WARNING” ini, jangan dibiarkan.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7CB118F-1B9F-BDB1-8B83-445201E772E8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lakukan hal ini lagi!)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F59F51-98B1-B0E8-AD52-B0D6C9FA8A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73260"/>
            <a:ext cx="9144000" cy="29823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0FC562-D767-55E2-4A26-50B2E6B65013}"/>
              </a:ext>
            </a:extLst>
          </p:cNvPr>
          <p:cNvSpPr/>
          <p:nvPr/>
        </p:nvSpPr>
        <p:spPr>
          <a:xfrm>
            <a:off x="209647" y="4891177"/>
            <a:ext cx="8623802" cy="58659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64538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82EB-6F76-58D3-7ADC-0D6F5212B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08DB79-76A7-5995-762E-729B4B8FBDF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90513"/>
            <a:ext cx="9144000" cy="296510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9529D6B-A28F-CCC5-A720-D1F13CC70608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 algn="ctr">
              <a:buAutoNum type="arabicPeriod"/>
            </a:pPr>
            <a:r>
              <a:rPr lang="id-ID" sz="3600" dirty="0" err="1">
                <a:latin typeface="+mn-lt"/>
              </a:rPr>
              <a:t>Select</a:t>
            </a:r>
            <a:r>
              <a:rPr lang="id-ID" sz="3600" dirty="0">
                <a:latin typeface="+mn-lt"/>
              </a:rPr>
              <a:t> PATH-</a:t>
            </a:r>
            <a:r>
              <a:rPr lang="id-ID" sz="3600" dirty="0" err="1">
                <a:latin typeface="+mn-lt"/>
              </a:rPr>
              <a:t>nya</a:t>
            </a:r>
            <a:endParaRPr lang="id-ID" sz="3600" dirty="0">
              <a:latin typeface="+mn-lt"/>
            </a:endParaRPr>
          </a:p>
          <a:p>
            <a:pPr marL="742950" indent="-742950" algn="ctr">
              <a:buAutoNum type="arabicPeriod"/>
            </a:pPr>
            <a:r>
              <a:rPr lang="id-ID" sz="3600" dirty="0">
                <a:latin typeface="+mn-lt"/>
              </a:rPr>
              <a:t>Klik kanan</a:t>
            </a:r>
          </a:p>
          <a:p>
            <a:pPr marL="742950" indent="-742950" algn="ctr">
              <a:buAutoNum type="arabicPeriod"/>
            </a:pPr>
            <a:r>
              <a:rPr lang="id-ID" sz="3600" dirty="0" err="1">
                <a:latin typeface="+mn-lt"/>
              </a:rPr>
              <a:t>Copy</a:t>
            </a:r>
            <a:endParaRPr lang="id-ID" sz="3600" dirty="0">
              <a:latin typeface="+mn-lt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2BA7C0-2823-E894-89ED-75620E1AC558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lakukan hal ini lagi!)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C75732-814A-D037-CA62-4965C6381D99}"/>
              </a:ext>
            </a:extLst>
          </p:cNvPr>
          <p:cNvSpPr/>
          <p:nvPr/>
        </p:nvSpPr>
        <p:spPr>
          <a:xfrm>
            <a:off x="3950899" y="4865299"/>
            <a:ext cx="3899140" cy="61247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255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83030-025B-BF0E-35FC-9D45D3A25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9BE6EB-07D0-E115-0E0A-B116BB17530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2027" y="3553678"/>
            <a:ext cx="6259947" cy="330432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ED44383-678E-5FC7-5A92-7DDD1269CFB7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3600" dirty="0">
                <a:latin typeface="+mn-lt"/>
              </a:rPr>
              <a:t>4. Buka Windows</a:t>
            </a:r>
          </a:p>
          <a:p>
            <a:pPr algn="ctr"/>
            <a:r>
              <a:rPr lang="id-ID" sz="3600" dirty="0">
                <a:latin typeface="+mn-lt"/>
              </a:rPr>
              <a:t>5. Cari “</a:t>
            </a:r>
            <a:r>
              <a:rPr lang="id-ID" sz="3600" dirty="0" err="1">
                <a:latin typeface="+mn-lt"/>
              </a:rPr>
              <a:t>Variable</a:t>
            </a:r>
            <a:r>
              <a:rPr lang="id-ID" sz="3600" dirty="0">
                <a:latin typeface="+mn-lt"/>
              </a:rPr>
              <a:t>”</a:t>
            </a:r>
          </a:p>
          <a:p>
            <a:pPr algn="ctr"/>
            <a:r>
              <a:rPr lang="id-ID" sz="3600" dirty="0">
                <a:latin typeface="+mn-lt"/>
              </a:rPr>
              <a:t>6. Buka aplikasi ini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2ED5FBA-8755-3174-CA12-B84DE2BC8200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lakukan hal ini lagi!)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5CE26F-C9C3-99A4-0C1D-1CE5EFA684EA}"/>
              </a:ext>
            </a:extLst>
          </p:cNvPr>
          <p:cNvSpPr/>
          <p:nvPr/>
        </p:nvSpPr>
        <p:spPr>
          <a:xfrm>
            <a:off x="1493786" y="4700586"/>
            <a:ext cx="2879806" cy="81169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13393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C2E6E-723A-C782-4B55-1149B3D6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AAF598-D404-B735-48DE-8302ACBBC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90" y="1200150"/>
            <a:ext cx="3924300" cy="44577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F9DFD78-0A7D-D77F-3368-E1889377CDFF}"/>
              </a:ext>
            </a:extLst>
          </p:cNvPr>
          <p:cNvSpPr txBox="1">
            <a:spLocks/>
          </p:cNvSpPr>
          <p:nvPr/>
        </p:nvSpPr>
        <p:spPr>
          <a:xfrm>
            <a:off x="4517110" y="2262726"/>
            <a:ext cx="43200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3600" dirty="0">
                <a:latin typeface="+mn-lt"/>
              </a:rPr>
              <a:t>7. Pencet “</a:t>
            </a:r>
            <a:r>
              <a:rPr lang="id-ID" sz="3600" dirty="0" err="1">
                <a:latin typeface="+mn-lt"/>
              </a:rPr>
              <a:t>Environment</a:t>
            </a:r>
            <a:r>
              <a:rPr lang="id-ID" sz="3600" dirty="0">
                <a:latin typeface="+mn-lt"/>
              </a:rPr>
              <a:t> </a:t>
            </a:r>
            <a:r>
              <a:rPr lang="id-ID" sz="3600" dirty="0" err="1">
                <a:latin typeface="+mn-lt"/>
              </a:rPr>
              <a:t>Variables</a:t>
            </a:r>
            <a:r>
              <a:rPr lang="id-ID" sz="3600" dirty="0">
                <a:latin typeface="+mn-lt"/>
              </a:rPr>
              <a:t>”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34B9885-B83E-237C-079D-F17E1F4EBB2C}"/>
              </a:ext>
            </a:extLst>
          </p:cNvPr>
          <p:cNvSpPr txBox="1">
            <a:spLocks/>
          </p:cNvSpPr>
          <p:nvPr/>
        </p:nvSpPr>
        <p:spPr>
          <a:xfrm>
            <a:off x="0" y="6340415"/>
            <a:ext cx="9144000" cy="428716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lakukan hal ini lagi!)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1B16A4-3A3C-9081-F4E5-C8E5279D0D3D}"/>
              </a:ext>
            </a:extLst>
          </p:cNvPr>
          <p:cNvSpPr/>
          <p:nvPr/>
        </p:nvSpPr>
        <p:spPr>
          <a:xfrm>
            <a:off x="2649726" y="4691959"/>
            <a:ext cx="1413316" cy="43213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950832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2E722-C413-72CB-FE53-2DA296BA7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70979A-D432-A5F5-6767-15C39A6494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45600"/>
            <a:ext cx="4572000" cy="43278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88B5F55-B64D-38F3-D967-28946497FF2D}"/>
              </a:ext>
            </a:extLst>
          </p:cNvPr>
          <p:cNvSpPr txBox="1">
            <a:spLocks/>
          </p:cNvSpPr>
          <p:nvPr/>
        </p:nvSpPr>
        <p:spPr>
          <a:xfrm>
            <a:off x="4664408" y="1145600"/>
            <a:ext cx="4320000" cy="432786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3600" dirty="0">
                <a:latin typeface="+mn-lt"/>
              </a:rPr>
              <a:t>8. Bagian </a:t>
            </a:r>
            <a:r>
              <a:rPr lang="id-ID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“System </a:t>
            </a:r>
            <a:r>
              <a:rPr lang="id-ID" sz="36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Variable</a:t>
            </a:r>
            <a:r>
              <a:rPr lang="id-ID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rPr>
              <a:t>” </a:t>
            </a:r>
            <a:r>
              <a:rPr lang="id-ID" sz="3600" dirty="0" err="1">
                <a:latin typeface="+mn-lt"/>
              </a:rPr>
              <a:t>scroll</a:t>
            </a:r>
            <a:r>
              <a:rPr lang="id-ID" sz="3600" dirty="0">
                <a:latin typeface="+mn-lt"/>
              </a:rPr>
              <a:t> </a:t>
            </a:r>
            <a:r>
              <a:rPr lang="id-ID" sz="3600" dirty="0" err="1">
                <a:latin typeface="+mn-lt"/>
              </a:rPr>
              <a:t>kebawah</a:t>
            </a:r>
            <a:endParaRPr lang="id-ID" sz="3600" dirty="0">
              <a:latin typeface="+mn-lt"/>
            </a:endParaRPr>
          </a:p>
          <a:p>
            <a:pPr algn="ctr"/>
            <a:endParaRPr lang="id-ID" sz="3600" dirty="0">
              <a:latin typeface="+mn-lt"/>
            </a:endParaRPr>
          </a:p>
          <a:p>
            <a:pPr algn="ctr"/>
            <a:r>
              <a:rPr lang="id-ID" sz="3600" dirty="0">
                <a:latin typeface="+mn-lt"/>
              </a:rPr>
              <a:t>9. </a:t>
            </a:r>
            <a:r>
              <a:rPr lang="id-ID" sz="3600" dirty="0" err="1">
                <a:latin typeface="+mn-lt"/>
              </a:rPr>
              <a:t>Double-click</a:t>
            </a:r>
            <a:r>
              <a:rPr lang="id-ID" sz="3600" dirty="0">
                <a:latin typeface="+mn-lt"/>
              </a:rPr>
              <a:t> PATH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117A93-F3A1-4971-3552-26E5FB5A1383}"/>
              </a:ext>
            </a:extLst>
          </p:cNvPr>
          <p:cNvSpPr/>
          <p:nvPr/>
        </p:nvSpPr>
        <p:spPr>
          <a:xfrm>
            <a:off x="69011" y="3256063"/>
            <a:ext cx="4442602" cy="1522971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DA999-0084-D736-2B12-1F458685DC11}"/>
              </a:ext>
            </a:extLst>
          </p:cNvPr>
          <p:cNvSpPr/>
          <p:nvPr/>
        </p:nvSpPr>
        <p:spPr>
          <a:xfrm>
            <a:off x="159592" y="4161841"/>
            <a:ext cx="4144989" cy="33252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97A1D50-A333-6A74-A190-DCB0E5E16CF9}"/>
              </a:ext>
            </a:extLst>
          </p:cNvPr>
          <p:cNvSpPr txBox="1">
            <a:spLocks/>
          </p:cNvSpPr>
          <p:nvPr/>
        </p:nvSpPr>
        <p:spPr>
          <a:xfrm>
            <a:off x="0" y="6340415"/>
            <a:ext cx="9144000" cy="428716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lakukan hal ini lagi!)</a:t>
            </a:r>
          </a:p>
        </p:txBody>
      </p:sp>
    </p:spTree>
    <p:extLst>
      <p:ext uri="{BB962C8B-B14F-4D97-AF65-F5344CB8AC3E}">
        <p14:creationId xmlns:p14="http://schemas.microsoft.com/office/powerpoint/2010/main" val="1444722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FA46-BDC9-1623-E121-A184DE8C7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D96D98-1053-BA2D-001E-A8CF3D469F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65068"/>
            <a:ext cx="4552465" cy="432786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7E2EB58-F195-5A96-C9C0-6252F4046D39}"/>
              </a:ext>
            </a:extLst>
          </p:cNvPr>
          <p:cNvSpPr txBox="1">
            <a:spLocks/>
          </p:cNvSpPr>
          <p:nvPr/>
        </p:nvSpPr>
        <p:spPr>
          <a:xfrm>
            <a:off x="4664408" y="1145600"/>
            <a:ext cx="4320000" cy="432786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3600" dirty="0">
                <a:latin typeface="+mn-lt"/>
              </a:rPr>
              <a:t>10. Pencet New</a:t>
            </a:r>
          </a:p>
          <a:p>
            <a:pPr algn="ctr"/>
            <a:endParaRPr lang="id-ID" sz="3600" dirty="0">
              <a:latin typeface="+mn-lt"/>
            </a:endParaRPr>
          </a:p>
          <a:p>
            <a:pPr algn="ctr"/>
            <a:r>
              <a:rPr lang="id-ID" sz="3600" dirty="0">
                <a:latin typeface="+mn-lt"/>
              </a:rPr>
              <a:t>11. </a:t>
            </a:r>
            <a:r>
              <a:rPr lang="id-ID" sz="3600" dirty="0" err="1">
                <a:latin typeface="+mn-lt"/>
              </a:rPr>
              <a:t>Paste</a:t>
            </a:r>
            <a:r>
              <a:rPr lang="id-ID" sz="3600" dirty="0">
                <a:latin typeface="+mn-lt"/>
              </a:rPr>
              <a:t> (CTRL+V)</a:t>
            </a:r>
          </a:p>
          <a:p>
            <a:pPr algn="ctr"/>
            <a:endParaRPr lang="id-ID" sz="3600" dirty="0">
              <a:latin typeface="+mn-lt"/>
            </a:endParaRPr>
          </a:p>
          <a:p>
            <a:pPr algn="ctr"/>
            <a:r>
              <a:rPr lang="id-ID" sz="3600" dirty="0">
                <a:latin typeface="+mn-lt"/>
              </a:rPr>
              <a:t>12. Pencet OK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8E01081-58B0-CD49-0CCC-590DA26C8625}"/>
              </a:ext>
            </a:extLst>
          </p:cNvPr>
          <p:cNvSpPr txBox="1">
            <a:spLocks/>
          </p:cNvSpPr>
          <p:nvPr/>
        </p:nvSpPr>
        <p:spPr>
          <a:xfrm>
            <a:off x="0" y="6340415"/>
            <a:ext cx="9144000" cy="428716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lakukan hal ini lagi!)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FAEF9-B8B5-5F69-EB3C-1EF8A59B89E3}"/>
              </a:ext>
            </a:extLst>
          </p:cNvPr>
          <p:cNvSpPr/>
          <p:nvPr/>
        </p:nvSpPr>
        <p:spPr>
          <a:xfrm>
            <a:off x="3610159" y="1634301"/>
            <a:ext cx="875578" cy="32389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8D79C4-717B-57B6-14A2-C4BDAEBA6075}"/>
              </a:ext>
            </a:extLst>
          </p:cNvPr>
          <p:cNvSpPr/>
          <p:nvPr/>
        </p:nvSpPr>
        <p:spPr>
          <a:xfrm>
            <a:off x="87707" y="4771441"/>
            <a:ext cx="3380112" cy="29226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8A5C9F-3605-5F02-03AC-5C784A2440EC}"/>
              </a:ext>
            </a:extLst>
          </p:cNvPr>
          <p:cNvSpPr/>
          <p:nvPr/>
        </p:nvSpPr>
        <p:spPr>
          <a:xfrm>
            <a:off x="2751826" y="5164178"/>
            <a:ext cx="948906" cy="3282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BD478D-6CF9-B295-296B-89D265406FDA}"/>
              </a:ext>
            </a:extLst>
          </p:cNvPr>
          <p:cNvSpPr txBox="1"/>
          <p:nvPr/>
        </p:nvSpPr>
        <p:spPr>
          <a:xfrm>
            <a:off x="4155563" y="1052603"/>
            <a:ext cx="10054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E68AA1-D8D3-275E-2330-BA826214B1B5}"/>
              </a:ext>
            </a:extLst>
          </p:cNvPr>
          <p:cNvSpPr txBox="1"/>
          <p:nvPr/>
        </p:nvSpPr>
        <p:spPr>
          <a:xfrm>
            <a:off x="3005202" y="4198411"/>
            <a:ext cx="10054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9A67E3-6FA3-B666-A7D4-7EFC6252B75E}"/>
              </a:ext>
            </a:extLst>
          </p:cNvPr>
          <p:cNvSpPr txBox="1"/>
          <p:nvPr/>
        </p:nvSpPr>
        <p:spPr>
          <a:xfrm>
            <a:off x="3466893" y="5066807"/>
            <a:ext cx="10054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43004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6A61-AC4A-1404-D7BB-326D4204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929FFF-ACB1-3692-5033-3D0D0F63C4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452" y="423992"/>
            <a:ext cx="3174521" cy="300500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082C5A2-96FF-FF94-1C2E-2FF42A809738}"/>
              </a:ext>
            </a:extLst>
          </p:cNvPr>
          <p:cNvSpPr txBox="1">
            <a:spLocks/>
          </p:cNvSpPr>
          <p:nvPr/>
        </p:nvSpPr>
        <p:spPr>
          <a:xfrm>
            <a:off x="4664408" y="1145600"/>
            <a:ext cx="4320000" cy="432786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3600" dirty="0">
                <a:latin typeface="+mn-lt"/>
              </a:rPr>
              <a:t>13. Pencet OK lagi buat </a:t>
            </a:r>
            <a:r>
              <a:rPr lang="id-ID" sz="3600" dirty="0" err="1">
                <a:latin typeface="+mn-lt"/>
              </a:rPr>
              <a:t>Close</a:t>
            </a:r>
            <a:endParaRPr lang="id-ID" sz="3600" dirty="0">
              <a:latin typeface="+mn-lt"/>
            </a:endParaRPr>
          </a:p>
          <a:p>
            <a:pPr algn="ctr"/>
            <a:endParaRPr lang="id-ID" sz="3600" dirty="0">
              <a:latin typeface="+mn-lt"/>
            </a:endParaRPr>
          </a:p>
          <a:p>
            <a:pPr algn="ctr"/>
            <a:r>
              <a:rPr lang="id-ID" sz="3600" dirty="0">
                <a:latin typeface="+mn-lt"/>
              </a:rPr>
              <a:t>14. OK lagi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0FB65D-250B-F072-11C8-6C862F770BF1}"/>
              </a:ext>
            </a:extLst>
          </p:cNvPr>
          <p:cNvSpPr/>
          <p:nvPr/>
        </p:nvSpPr>
        <p:spPr>
          <a:xfrm>
            <a:off x="2833782" y="3139146"/>
            <a:ext cx="625410" cy="2898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D281AEE-A918-1465-5287-6E35508A37B8}"/>
              </a:ext>
            </a:extLst>
          </p:cNvPr>
          <p:cNvSpPr txBox="1">
            <a:spLocks/>
          </p:cNvSpPr>
          <p:nvPr/>
        </p:nvSpPr>
        <p:spPr>
          <a:xfrm>
            <a:off x="0" y="6340415"/>
            <a:ext cx="9144000" cy="428716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lakukan hal ini lagi!)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1CAEE0-EF7E-BE19-B6F0-F94101CD82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8517" y="3520243"/>
            <a:ext cx="2402390" cy="272892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FDE499-7D98-AF41-C452-F76C5E878283}"/>
              </a:ext>
            </a:extLst>
          </p:cNvPr>
          <p:cNvSpPr/>
          <p:nvPr/>
        </p:nvSpPr>
        <p:spPr>
          <a:xfrm>
            <a:off x="2107007" y="5959317"/>
            <a:ext cx="625410" cy="28985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21787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9290-9AE6-4C77-E8FA-4F3544B73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F2BBD69-9F4C-0A24-960E-9ECF77761DA9}"/>
              </a:ext>
            </a:extLst>
          </p:cNvPr>
          <p:cNvSpPr txBox="1">
            <a:spLocks/>
          </p:cNvSpPr>
          <p:nvPr/>
        </p:nvSpPr>
        <p:spPr>
          <a:xfrm>
            <a:off x="0" y="1145600"/>
            <a:ext cx="9144000" cy="4327864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5400" dirty="0">
                <a:latin typeface="+mn-lt"/>
              </a:rPr>
              <a:t>15. PENTING, </a:t>
            </a:r>
            <a:r>
              <a:rPr lang="id-ID" sz="5400" dirty="0" err="1">
                <a:latin typeface="+mn-lt"/>
              </a:rPr>
              <a:t>close</a:t>
            </a:r>
            <a:r>
              <a:rPr lang="id-ID" sz="5400" dirty="0">
                <a:latin typeface="+mn-lt"/>
              </a:rPr>
              <a:t> dulu Android Studio </a:t>
            </a:r>
            <a:r>
              <a:rPr lang="id-ID" sz="5400" dirty="0" err="1">
                <a:latin typeface="+mn-lt"/>
              </a:rPr>
              <a:t>nya</a:t>
            </a:r>
            <a:r>
              <a:rPr lang="id-ID" sz="5400" dirty="0">
                <a:latin typeface="+mn-lt"/>
              </a:rPr>
              <a:t> biar CMD/Terminal </a:t>
            </a:r>
            <a:r>
              <a:rPr lang="id-ID" sz="5400" dirty="0" err="1">
                <a:latin typeface="+mn-lt"/>
              </a:rPr>
              <a:t>nya</a:t>
            </a:r>
            <a:r>
              <a:rPr lang="id-ID" sz="5400" dirty="0">
                <a:latin typeface="+mn-lt"/>
              </a:rPr>
              <a:t> </a:t>
            </a:r>
            <a:r>
              <a:rPr lang="id-ID" sz="5400" dirty="0" err="1">
                <a:latin typeface="+mn-lt"/>
              </a:rPr>
              <a:t>Restart</a:t>
            </a:r>
            <a:endParaRPr lang="id-ID" sz="5400" dirty="0">
              <a:latin typeface="+mn-lt"/>
            </a:endParaRPr>
          </a:p>
          <a:p>
            <a:pPr algn="ctr"/>
            <a:endParaRPr lang="id-ID" sz="5400" dirty="0">
              <a:latin typeface="+mn-lt"/>
            </a:endParaRPr>
          </a:p>
          <a:p>
            <a:pPr algn="ctr"/>
            <a:r>
              <a:rPr lang="id-ID" sz="3600" dirty="0"/>
              <a:t>16. Buka lagi Android Studio </a:t>
            </a:r>
            <a:r>
              <a:rPr lang="id-ID" sz="3600" dirty="0" err="1"/>
              <a:t>nya</a:t>
            </a:r>
            <a:endParaRPr lang="id-ID" sz="54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0AD27E5-7DC5-68C6-7130-8FA5EB07651D}"/>
              </a:ext>
            </a:extLst>
          </p:cNvPr>
          <p:cNvSpPr txBox="1">
            <a:spLocks/>
          </p:cNvSpPr>
          <p:nvPr/>
        </p:nvSpPr>
        <p:spPr>
          <a:xfrm>
            <a:off x="0" y="6340415"/>
            <a:ext cx="9144000" cy="428716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lakukan hal ini lagi!)</a:t>
            </a:r>
          </a:p>
        </p:txBody>
      </p:sp>
    </p:spTree>
    <p:extLst>
      <p:ext uri="{BB962C8B-B14F-4D97-AF65-F5344CB8AC3E}">
        <p14:creationId xmlns:p14="http://schemas.microsoft.com/office/powerpoint/2010/main" val="2239392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7D684-A42F-B9A7-BBBA-B4DA0446B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736C23C-4B81-53C7-8D59-464A629A0A2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73260"/>
            <a:ext cx="9144000" cy="298236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5238532-416A-F793-CDD2-F35DDBCD711A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5400" b="1" dirty="0" err="1">
                <a:latin typeface="Consolas" panose="020B0609020204030204" pitchFamily="49" charset="0"/>
              </a:rPr>
              <a:t>firebase</a:t>
            </a:r>
            <a:r>
              <a:rPr lang="id-ID" sz="5400" b="1" dirty="0">
                <a:latin typeface="Consolas" panose="020B0609020204030204" pitchFamily="49" charset="0"/>
              </a:rPr>
              <a:t> </a:t>
            </a:r>
            <a:r>
              <a:rPr lang="id-ID" sz="5400" b="1" dirty="0" err="1">
                <a:latin typeface="Consolas" panose="020B0609020204030204" pitchFamily="49" charset="0"/>
              </a:rPr>
              <a:t>login</a:t>
            </a:r>
            <a:endParaRPr lang="id-ID" sz="5400" b="1" dirty="0">
              <a:latin typeface="Consolas" panose="020B0609020204030204" pitchFamily="49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3990A8-CE1B-51E7-F09C-DDBB6BD5D2A5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 err="1"/>
              <a:t>Login</a:t>
            </a:r>
            <a:r>
              <a:rPr lang="id-ID" sz="2000" dirty="0"/>
              <a:t> ke </a:t>
            </a:r>
            <a:r>
              <a:rPr lang="id-ID" sz="2000" dirty="0" err="1"/>
              <a:t>Firebase</a:t>
            </a:r>
            <a:endParaRPr lang="id-ID" sz="2000" dirty="0"/>
          </a:p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</a:t>
            </a:r>
            <a:r>
              <a:rPr lang="id-ID" sz="2000" dirty="0" err="1"/>
              <a:t>run</a:t>
            </a:r>
            <a:r>
              <a:rPr lang="id-ID" sz="2000" dirty="0"/>
              <a:t> ini!)</a:t>
            </a:r>
          </a:p>
        </p:txBody>
      </p:sp>
    </p:spTree>
    <p:extLst>
      <p:ext uri="{BB962C8B-B14F-4D97-AF65-F5344CB8AC3E}">
        <p14:creationId xmlns:p14="http://schemas.microsoft.com/office/powerpoint/2010/main" val="1028204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CDECF-C432-BF3A-A85D-0158E4E8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82D7F9-E4B7-7F27-2D0F-4F4706D37A5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73260"/>
            <a:ext cx="9144000" cy="298236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0396A3-C25B-A978-EF75-61FE169AB8CA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3600" b="1" dirty="0">
                <a:latin typeface="+mn-lt"/>
              </a:rPr>
              <a:t>Ada pertanyaan? Jawab </a:t>
            </a:r>
            <a:r>
              <a:rPr lang="id-ID" sz="3600" b="1" dirty="0" err="1">
                <a:latin typeface="+mn-lt"/>
              </a:rPr>
              <a:t>aja</a:t>
            </a:r>
            <a:r>
              <a:rPr lang="id-ID" sz="3600" b="1" dirty="0">
                <a:latin typeface="+mn-lt"/>
              </a:rPr>
              <a:t> (Y/N)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B4643C9-83FB-F44B-A760-A281139060B5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 err="1"/>
              <a:t>Login</a:t>
            </a:r>
            <a:r>
              <a:rPr lang="id-ID" sz="2000" dirty="0"/>
              <a:t> ke </a:t>
            </a:r>
            <a:r>
              <a:rPr lang="id-ID" sz="2000" dirty="0" err="1"/>
              <a:t>Firebase</a:t>
            </a:r>
            <a:endParaRPr lang="id-ID" sz="2000" dirty="0"/>
          </a:p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</a:t>
            </a:r>
            <a:r>
              <a:rPr lang="id-ID" sz="2000" dirty="0" err="1"/>
              <a:t>run</a:t>
            </a:r>
            <a:r>
              <a:rPr lang="id-ID" sz="2000" dirty="0"/>
              <a:t> ini!)</a:t>
            </a:r>
          </a:p>
        </p:txBody>
      </p:sp>
    </p:spTree>
    <p:extLst>
      <p:ext uri="{BB962C8B-B14F-4D97-AF65-F5344CB8AC3E}">
        <p14:creationId xmlns:p14="http://schemas.microsoft.com/office/powerpoint/2010/main" val="3533398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221EE-018D-5DB9-6477-92D7F13DE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595DC6-780A-9F4C-14E7-75BC58887B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73260"/>
            <a:ext cx="9144000" cy="298236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7275109-4151-30CC-C076-CFA55154A21E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3600" b="1" dirty="0">
                <a:latin typeface="+mn-lt"/>
              </a:rPr>
              <a:t>Biasanya langsung buka Browser, </a:t>
            </a:r>
            <a:r>
              <a:rPr lang="id-ID" sz="3600" b="1" dirty="0" err="1">
                <a:latin typeface="+mn-lt"/>
              </a:rPr>
              <a:t>login</a:t>
            </a:r>
            <a:r>
              <a:rPr lang="id-ID" sz="3600" b="1" dirty="0">
                <a:latin typeface="+mn-lt"/>
              </a:rPr>
              <a:t> </a:t>
            </a:r>
            <a:r>
              <a:rPr lang="id-ID" sz="3600" b="1" dirty="0" err="1">
                <a:latin typeface="+mn-lt"/>
              </a:rPr>
              <a:t>aja</a:t>
            </a:r>
            <a:r>
              <a:rPr lang="id-ID" sz="3600" b="1" dirty="0">
                <a:latin typeface="+mn-lt"/>
              </a:rPr>
              <a:t> ke Akun yang tadi. </a:t>
            </a:r>
            <a:br>
              <a:rPr lang="id-ID" sz="3600" b="1" dirty="0">
                <a:latin typeface="+mn-lt"/>
              </a:rPr>
            </a:br>
            <a:r>
              <a:rPr lang="id-ID" sz="2000" b="1" dirty="0">
                <a:latin typeface="+mn-lt"/>
              </a:rPr>
              <a:t>(Kalo </a:t>
            </a:r>
            <a:r>
              <a:rPr lang="id-ID" sz="2000" b="1" dirty="0" err="1">
                <a:latin typeface="+mn-lt"/>
              </a:rPr>
              <a:t>ngga</a:t>
            </a:r>
            <a:r>
              <a:rPr lang="id-ID" sz="2000" b="1" dirty="0">
                <a:latin typeface="+mn-lt"/>
              </a:rPr>
              <a:t>, </a:t>
            </a:r>
            <a:r>
              <a:rPr lang="id-ID" sz="2000" b="1" dirty="0" err="1">
                <a:latin typeface="+mn-lt"/>
              </a:rPr>
              <a:t>copy</a:t>
            </a:r>
            <a:r>
              <a:rPr lang="id-ID" sz="2000" b="1" dirty="0">
                <a:latin typeface="+mn-lt"/>
              </a:rPr>
              <a:t> URL </a:t>
            </a:r>
            <a:r>
              <a:rPr lang="id-ID" sz="2000" b="1" dirty="0" err="1">
                <a:latin typeface="+mn-lt"/>
              </a:rPr>
              <a:t>nya</a:t>
            </a:r>
            <a:r>
              <a:rPr lang="id-ID" sz="2000" b="1" dirty="0">
                <a:latin typeface="+mn-lt"/>
              </a:rPr>
              <a:t>, buka di Browsermu)</a:t>
            </a:r>
            <a:endParaRPr lang="id-ID" sz="3600" b="1" dirty="0">
              <a:latin typeface="+mn-lt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46EBCE7-3116-EA33-86A8-12004B329F97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 err="1"/>
              <a:t>Login</a:t>
            </a:r>
            <a:r>
              <a:rPr lang="id-ID" sz="2000" dirty="0"/>
              <a:t> ke </a:t>
            </a:r>
            <a:r>
              <a:rPr lang="id-ID" sz="2000" dirty="0" err="1"/>
              <a:t>Firebase</a:t>
            </a:r>
            <a:endParaRPr lang="id-ID" sz="2000" dirty="0"/>
          </a:p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</a:t>
            </a:r>
            <a:r>
              <a:rPr lang="id-ID" sz="2000" dirty="0" err="1"/>
              <a:t>run</a:t>
            </a:r>
            <a:r>
              <a:rPr lang="id-ID" sz="2000" dirty="0"/>
              <a:t> ini!)</a:t>
            </a:r>
          </a:p>
        </p:txBody>
      </p:sp>
    </p:spTree>
    <p:extLst>
      <p:ext uri="{BB962C8B-B14F-4D97-AF65-F5344CB8AC3E}">
        <p14:creationId xmlns:p14="http://schemas.microsoft.com/office/powerpoint/2010/main" val="1150312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FDB51F-8126-20D0-5A40-D65CC6EDF1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56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6FA112-B2DC-7A3E-8B7E-ECDDFC869E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496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B60102-2A16-84D6-5688-D9EE79A270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73260"/>
            <a:ext cx="9144000" cy="29823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43DA07C-C2BC-339A-2CE4-560695E5A32D}"/>
              </a:ext>
            </a:extLst>
          </p:cNvPr>
          <p:cNvSpPr/>
          <p:nvPr/>
        </p:nvSpPr>
        <p:spPr>
          <a:xfrm>
            <a:off x="198406" y="5719313"/>
            <a:ext cx="5779699" cy="406612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21C238-4EE0-B1DF-68AA-A4188E519E66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3600" b="1" dirty="0">
                <a:latin typeface="+mn-lt"/>
              </a:rPr>
              <a:t>Kalau ada ini, </a:t>
            </a:r>
            <a:r>
              <a:rPr lang="id-ID" sz="3600" b="1" dirty="0" err="1">
                <a:latin typeface="+mn-lt"/>
              </a:rPr>
              <a:t>udah</a:t>
            </a:r>
            <a:r>
              <a:rPr lang="id-ID" sz="3600" b="1" dirty="0">
                <a:latin typeface="+mn-lt"/>
              </a:rPr>
              <a:t> </a:t>
            </a:r>
            <a:r>
              <a:rPr lang="id-ID" sz="3600" b="1" dirty="0" err="1">
                <a:latin typeface="+mn-lt"/>
              </a:rPr>
              <a:t>login</a:t>
            </a:r>
            <a:endParaRPr lang="id-ID" sz="3600" b="1" dirty="0">
              <a:latin typeface="+mn-lt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782DEDF-D7B1-8117-44A4-CAA7C327FA9B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 err="1"/>
              <a:t>Login</a:t>
            </a:r>
            <a:r>
              <a:rPr lang="id-ID" sz="2000" dirty="0"/>
              <a:t> ke </a:t>
            </a:r>
            <a:r>
              <a:rPr lang="id-ID" sz="2000" dirty="0" err="1"/>
              <a:t>Firebase</a:t>
            </a:r>
            <a:endParaRPr lang="id-ID" sz="2000" dirty="0"/>
          </a:p>
          <a:p>
            <a:pPr marL="0" indent="0" algn="ctr">
              <a:buNone/>
            </a:pPr>
            <a:r>
              <a:rPr lang="id-ID" sz="2000" dirty="0"/>
              <a:t>(Sekali saja, </a:t>
            </a:r>
            <a:r>
              <a:rPr lang="id-ID" sz="2000" dirty="0" err="1"/>
              <a:t>ntar</a:t>
            </a:r>
            <a:r>
              <a:rPr lang="id-ID" sz="2000" dirty="0"/>
              <a:t> kalo buat </a:t>
            </a:r>
            <a:r>
              <a:rPr lang="id-ID" sz="2000" dirty="0" err="1"/>
              <a:t>project</a:t>
            </a:r>
            <a:r>
              <a:rPr lang="id-ID" sz="2000" dirty="0"/>
              <a:t> baru, </a:t>
            </a:r>
            <a:r>
              <a:rPr lang="id-ID" sz="2000" dirty="0" err="1"/>
              <a:t>ngga</a:t>
            </a:r>
            <a:r>
              <a:rPr lang="id-ID" sz="2000" dirty="0"/>
              <a:t> usah </a:t>
            </a:r>
            <a:r>
              <a:rPr lang="id-ID" sz="2000" dirty="0" err="1"/>
              <a:t>run</a:t>
            </a:r>
            <a:r>
              <a:rPr lang="id-ID" sz="2000" dirty="0"/>
              <a:t> ini!)</a:t>
            </a:r>
          </a:p>
        </p:txBody>
      </p:sp>
    </p:spTree>
    <p:extLst>
      <p:ext uri="{BB962C8B-B14F-4D97-AF65-F5344CB8AC3E}">
        <p14:creationId xmlns:p14="http://schemas.microsoft.com/office/powerpoint/2010/main" val="12701761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528F-9D86-3480-54BB-E0F5A1C7C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DDEA-5067-4B0F-D755-036ECB46A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Set </a:t>
            </a:r>
            <a:r>
              <a:rPr lang="id-ID" dirty="0" err="1"/>
              <a:t>Up</a:t>
            </a:r>
            <a:r>
              <a:rPr lang="id-ID" dirty="0"/>
              <a:t> </a:t>
            </a:r>
            <a:r>
              <a:rPr lang="id-ID" dirty="0" err="1"/>
              <a:t>Firebase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DA6C3-8C0B-47EC-029C-78CB1525A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5. </a:t>
            </a:r>
            <a:r>
              <a:rPr lang="id-ID" b="1" u="sng" dirty="0"/>
              <a:t>LAKUKAN SETIAP PROJECT BARU,</a:t>
            </a:r>
            <a:r>
              <a:rPr lang="id-ID" dirty="0"/>
              <a:t> </a:t>
            </a:r>
            <a:br>
              <a:rPr lang="id-ID" dirty="0"/>
            </a:br>
            <a:r>
              <a:rPr lang="id-ID" dirty="0"/>
              <a:t>Konfigurasi </a:t>
            </a:r>
            <a:r>
              <a:rPr lang="id-ID" dirty="0" err="1"/>
              <a:t>Firebase</a:t>
            </a:r>
            <a:r>
              <a:rPr lang="id-ID" dirty="0"/>
              <a:t> ke Project</a:t>
            </a:r>
          </a:p>
        </p:txBody>
      </p:sp>
    </p:spTree>
    <p:extLst>
      <p:ext uri="{BB962C8B-B14F-4D97-AF65-F5344CB8AC3E}">
        <p14:creationId xmlns:p14="http://schemas.microsoft.com/office/powerpoint/2010/main" val="13489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1CFC-5F84-5333-8D73-205FA52F9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95F9E5-3C1C-A0CB-0CC4-F55DE1C4B4EB}"/>
              </a:ext>
            </a:extLst>
          </p:cNvPr>
          <p:cNvSpPr/>
          <p:nvPr/>
        </p:nvSpPr>
        <p:spPr>
          <a:xfrm>
            <a:off x="198406" y="5719313"/>
            <a:ext cx="5779699" cy="406612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8CE6FC-705C-40E4-F426-039FE3527E07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4800" b="1" dirty="0">
                <a:latin typeface="Consolas" panose="020B0609020204030204" pitchFamily="49" charset="0"/>
              </a:rPr>
              <a:t>cd ..</a:t>
            </a:r>
            <a:br>
              <a:rPr lang="id-ID" sz="4800" b="1" dirty="0">
                <a:latin typeface="Consolas" panose="020B0609020204030204" pitchFamily="49" charset="0"/>
              </a:rPr>
            </a:br>
            <a:br>
              <a:rPr lang="id-ID" sz="4800" b="1" dirty="0">
                <a:latin typeface="Consolas" panose="020B0609020204030204" pitchFamily="49" charset="0"/>
              </a:rPr>
            </a:br>
            <a:r>
              <a:rPr lang="id-ID" sz="4800" b="1" dirty="0" err="1">
                <a:latin typeface="Consolas" panose="020B0609020204030204" pitchFamily="49" charset="0"/>
              </a:rPr>
              <a:t>flutterfire</a:t>
            </a:r>
            <a:r>
              <a:rPr lang="id-ID" sz="4800" b="1" dirty="0">
                <a:latin typeface="Consolas" panose="020B0609020204030204" pitchFamily="49" charset="0"/>
              </a:rPr>
              <a:t> </a:t>
            </a:r>
            <a:r>
              <a:rPr lang="id-ID" sz="4800" b="1" dirty="0" err="1">
                <a:latin typeface="Consolas" panose="020B0609020204030204" pitchFamily="49" charset="0"/>
              </a:rPr>
              <a:t>configure</a:t>
            </a:r>
            <a:endParaRPr lang="id-ID" sz="4000" b="1" dirty="0">
              <a:latin typeface="Consolas" panose="020B0609020204030204" pitchFamily="49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A8CBB6C-5524-99A0-DEDE-D19A820FAC66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Konfigurasi, </a:t>
            </a:r>
            <a:r>
              <a:rPr lang="id-ID" sz="2000" dirty="0" err="1"/>
              <a:t>Firebase</a:t>
            </a:r>
            <a:r>
              <a:rPr lang="id-ID" sz="2000" dirty="0"/>
              <a:t> ke </a:t>
            </a:r>
            <a:r>
              <a:rPr lang="id-ID" sz="2000" dirty="0" err="1"/>
              <a:t>Flutter</a:t>
            </a:r>
            <a:r>
              <a:rPr lang="id-ID" sz="2000" dirty="0"/>
              <a:t>.</a:t>
            </a:r>
          </a:p>
          <a:p>
            <a:pPr marL="0" indent="0" algn="ctr">
              <a:buNone/>
            </a:pPr>
            <a:r>
              <a:rPr lang="id-ID" sz="2000" dirty="0"/>
              <a:t>Kalo </a:t>
            </a:r>
            <a:r>
              <a:rPr lang="id-ID" sz="2000" dirty="0" err="1"/>
              <a:t>error</a:t>
            </a:r>
            <a:r>
              <a:rPr lang="id-ID" sz="2000" dirty="0"/>
              <a:t>, “</a:t>
            </a:r>
            <a:r>
              <a:rPr lang="id-ID" sz="2000" dirty="0" err="1"/>
              <a:t>FlutterAppRequiredException</a:t>
            </a:r>
            <a:r>
              <a:rPr lang="id-ID" sz="2000" dirty="0"/>
              <a:t>”, pindah ke Project ROOT</a:t>
            </a:r>
          </a:p>
          <a:p>
            <a:pPr marL="0" indent="0" algn="ctr">
              <a:buNone/>
            </a:pPr>
            <a:r>
              <a:rPr lang="id-ID" sz="2000" u="sng" dirty="0"/>
              <a:t>(Mulai dari step ini, dilakukan kalau buat </a:t>
            </a:r>
            <a:r>
              <a:rPr lang="id-ID" sz="2000" u="sng" dirty="0" err="1"/>
              <a:t>project</a:t>
            </a:r>
            <a:r>
              <a:rPr lang="id-ID" sz="2000" u="sng" dirty="0"/>
              <a:t> baru)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BA4B82-2F04-A1F1-E526-C414AD5B24D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99140"/>
            <a:ext cx="9144000" cy="295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058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D2C29-46A5-1900-9F0B-0FBB39A61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7C01EF-8E64-841D-B8CF-69E622D3367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81887"/>
            <a:ext cx="9144000" cy="29737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2CC50F-22ED-3FD9-FE83-97352EF13E2D}"/>
              </a:ext>
            </a:extLst>
          </p:cNvPr>
          <p:cNvSpPr/>
          <p:nvPr/>
        </p:nvSpPr>
        <p:spPr>
          <a:xfrm>
            <a:off x="362309" y="5736566"/>
            <a:ext cx="3096884" cy="40661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7592410-9208-0C25-534C-9209B863FB24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4800" b="1" dirty="0">
                <a:latin typeface="+mn-lt"/>
              </a:rPr>
              <a:t>Pilih “</a:t>
            </a:r>
            <a:r>
              <a:rPr lang="id-ID" sz="4800" b="1" dirty="0" err="1">
                <a:latin typeface="+mn-lt"/>
              </a:rPr>
              <a:t>Create</a:t>
            </a:r>
            <a:r>
              <a:rPr lang="id-ID" sz="4800" b="1" dirty="0">
                <a:latin typeface="+mn-lt"/>
              </a:rPr>
              <a:t> a </a:t>
            </a:r>
            <a:r>
              <a:rPr lang="id-ID" sz="4800" b="1" dirty="0" err="1">
                <a:latin typeface="+mn-lt"/>
              </a:rPr>
              <a:t>new</a:t>
            </a:r>
            <a:r>
              <a:rPr lang="id-ID" sz="4800" b="1" dirty="0">
                <a:latin typeface="+mn-lt"/>
              </a:rPr>
              <a:t> Project”, terus ENTER</a:t>
            </a:r>
            <a:endParaRPr lang="id-ID" sz="4000" b="1" dirty="0">
              <a:latin typeface="+mn-lt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804A4B-0134-B2AC-6FE1-E6A933F8E7DD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Konfigurasi, </a:t>
            </a:r>
            <a:r>
              <a:rPr lang="id-ID" sz="2000" dirty="0" err="1"/>
              <a:t>Firebase</a:t>
            </a:r>
            <a:r>
              <a:rPr lang="id-ID" sz="2000" dirty="0"/>
              <a:t> ke </a:t>
            </a:r>
            <a:r>
              <a:rPr lang="id-ID" sz="2000" dirty="0" err="1"/>
              <a:t>Flutter</a:t>
            </a:r>
            <a:r>
              <a:rPr lang="id-ID" sz="2000" dirty="0"/>
              <a:t>.</a:t>
            </a:r>
            <a:br>
              <a:rPr lang="id-ID" sz="2000" dirty="0"/>
            </a:br>
            <a:r>
              <a:rPr lang="id-ID" sz="2000" b="1" u="sng" dirty="0"/>
              <a:t>CONTROL PAKE ARROWS (ATAS-BAWAH), PILIH = SPASI</a:t>
            </a:r>
            <a:endParaRPr lang="id-ID" sz="2000" u="sng" dirty="0"/>
          </a:p>
        </p:txBody>
      </p:sp>
    </p:spTree>
    <p:extLst>
      <p:ext uri="{BB962C8B-B14F-4D97-AF65-F5344CB8AC3E}">
        <p14:creationId xmlns:p14="http://schemas.microsoft.com/office/powerpoint/2010/main" val="12633790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3F23-B904-8013-9CA7-B778C3D79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22D32A9-BD64-4D76-3F99-817FDCD0373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916392"/>
            <a:ext cx="9144000" cy="29392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689DCC-CB27-B3FD-9868-86F2D47D524E}"/>
              </a:ext>
            </a:extLst>
          </p:cNvPr>
          <p:cNvSpPr/>
          <p:nvPr/>
        </p:nvSpPr>
        <p:spPr>
          <a:xfrm>
            <a:off x="948904" y="6072996"/>
            <a:ext cx="2812213" cy="337601"/>
          </a:xfrm>
          <a:prstGeom prst="rect">
            <a:avLst/>
          </a:prstGeom>
          <a:solidFill>
            <a:srgbClr val="1E1F22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dirty="0" err="1">
                <a:latin typeface="Consolas" panose="020B0609020204030204" pitchFamily="49" charset="0"/>
              </a:rPr>
              <a:t>mobile-test-firebase</a:t>
            </a:r>
            <a:endParaRPr lang="id-ID" dirty="0">
              <a:latin typeface="Consolas" panose="020B0609020204030204" pitchFamily="49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FC4F6B8-E582-8DC7-7173-C72A208FA111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4800" b="1" dirty="0">
                <a:latin typeface="+mn-lt"/>
              </a:rPr>
              <a:t>Nama Project terserah</a:t>
            </a:r>
            <a:endParaRPr lang="id-ID" sz="4000" b="1" dirty="0">
              <a:latin typeface="+mn-lt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95E0C82-0336-8C37-BFC0-3068E837E6CB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Konfigurasi, </a:t>
            </a:r>
            <a:r>
              <a:rPr lang="id-ID" sz="2000" dirty="0" err="1"/>
              <a:t>Firebase</a:t>
            </a:r>
            <a:r>
              <a:rPr lang="id-ID" sz="2000" dirty="0"/>
              <a:t> ke </a:t>
            </a:r>
            <a:r>
              <a:rPr lang="id-ID" sz="2000" dirty="0" err="1"/>
              <a:t>Flutter</a:t>
            </a:r>
            <a:r>
              <a:rPr lang="id-ID" sz="2000" dirty="0"/>
              <a:t>.</a:t>
            </a:r>
            <a:br>
              <a:rPr lang="id-ID" sz="2000" dirty="0"/>
            </a:br>
            <a:r>
              <a:rPr lang="id-ID" sz="2000" b="1" u="sng" dirty="0"/>
              <a:t>CONTROL PAKE ARROWS (ATAS-BAWAH), PILIH = SPASI</a:t>
            </a:r>
            <a:endParaRPr lang="id-ID" sz="2000" u="sng" dirty="0"/>
          </a:p>
        </p:txBody>
      </p:sp>
    </p:spTree>
    <p:extLst>
      <p:ext uri="{BB962C8B-B14F-4D97-AF65-F5344CB8AC3E}">
        <p14:creationId xmlns:p14="http://schemas.microsoft.com/office/powerpoint/2010/main" val="35669424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BEAD09-3957-EA95-076E-1924F45FEDF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90513"/>
            <a:ext cx="9144000" cy="296510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3BBCD-1535-9295-6357-71198B336492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4800" b="1" dirty="0">
                <a:latin typeface="+mn-lt"/>
              </a:rPr>
              <a:t>Untuk sekarang, pilih “Android” dan “Web” </a:t>
            </a:r>
            <a:r>
              <a:rPr lang="id-ID" sz="4800" b="1" dirty="0" err="1">
                <a:latin typeface="+mn-lt"/>
              </a:rPr>
              <a:t>aja</a:t>
            </a:r>
            <a:r>
              <a:rPr lang="id-ID" sz="4800" b="1" dirty="0">
                <a:latin typeface="+mn-lt"/>
              </a:rPr>
              <a:t>, terus ENTER</a:t>
            </a:r>
            <a:endParaRPr lang="id-ID" sz="4000" b="1" dirty="0">
              <a:latin typeface="+mn-lt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D96B6B8-94CF-F57A-8F5C-58FC97680447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Konfigurasi, </a:t>
            </a:r>
            <a:r>
              <a:rPr lang="id-ID" sz="2000" dirty="0" err="1"/>
              <a:t>Firebase</a:t>
            </a:r>
            <a:r>
              <a:rPr lang="id-ID" sz="2000" dirty="0"/>
              <a:t> ke </a:t>
            </a:r>
            <a:r>
              <a:rPr lang="id-ID" sz="2000" dirty="0" err="1"/>
              <a:t>Flutter</a:t>
            </a:r>
            <a:r>
              <a:rPr lang="id-ID" sz="2000" dirty="0"/>
              <a:t>.</a:t>
            </a:r>
            <a:br>
              <a:rPr lang="id-ID" sz="2000" dirty="0"/>
            </a:br>
            <a:r>
              <a:rPr lang="id-ID" sz="2000" b="1" u="sng" dirty="0"/>
              <a:t>CONTROL PAKE ARROWS (ATAS-BAWAH), PILIH = SPASI</a:t>
            </a:r>
            <a:endParaRPr lang="id-ID" sz="2000" u="sng" dirty="0"/>
          </a:p>
        </p:txBody>
      </p:sp>
    </p:spTree>
    <p:extLst>
      <p:ext uri="{BB962C8B-B14F-4D97-AF65-F5344CB8AC3E}">
        <p14:creationId xmlns:p14="http://schemas.microsoft.com/office/powerpoint/2010/main" val="4182769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1BAA5-B0C3-B4FA-4469-C73A29A72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DCD207-2313-ACB9-1DAC-A2A1D4AAF56A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4800" b="1" dirty="0" err="1">
                <a:latin typeface="+mn-lt"/>
              </a:rPr>
              <a:t>Firebase</a:t>
            </a:r>
            <a:r>
              <a:rPr lang="id-ID" sz="4800" b="1" dirty="0">
                <a:latin typeface="+mn-lt"/>
              </a:rPr>
              <a:t> sudah terkonfigurasi di Project </a:t>
            </a:r>
            <a:r>
              <a:rPr lang="id-ID" sz="4800" b="1" dirty="0" err="1">
                <a:latin typeface="+mn-lt"/>
              </a:rPr>
              <a:t>Flutter</a:t>
            </a:r>
            <a:r>
              <a:rPr lang="id-ID" sz="4800" b="1" dirty="0">
                <a:latin typeface="+mn-lt"/>
              </a:rPr>
              <a:t> kamu</a:t>
            </a:r>
            <a:endParaRPr lang="id-ID" sz="4000" b="1" dirty="0">
              <a:latin typeface="+mn-lt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AD9D0C5-510E-FFF1-06F0-E7CBDB123414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Konfigurasi, </a:t>
            </a:r>
            <a:r>
              <a:rPr lang="id-ID" sz="2000" dirty="0" err="1"/>
              <a:t>Firebase</a:t>
            </a:r>
            <a:r>
              <a:rPr lang="id-ID" sz="2000" dirty="0"/>
              <a:t> ke </a:t>
            </a:r>
            <a:r>
              <a:rPr lang="id-ID" sz="2000" dirty="0" err="1"/>
              <a:t>Flutter</a:t>
            </a:r>
            <a:r>
              <a:rPr lang="id-ID" sz="2000" dirty="0"/>
              <a:t>.</a:t>
            </a:r>
            <a:endParaRPr lang="id-ID" sz="20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DAC3FE-4159-B339-6DCE-CE99C1D16C1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90513"/>
            <a:ext cx="9144000" cy="296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729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5CE21B-6868-5116-048D-AD451A870EF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7AEB64-6DE7-1D01-936F-C3071C73F5C3}"/>
              </a:ext>
            </a:extLst>
          </p:cNvPr>
          <p:cNvSpPr/>
          <p:nvPr/>
        </p:nvSpPr>
        <p:spPr>
          <a:xfrm>
            <a:off x="321964" y="2009955"/>
            <a:ext cx="1679364" cy="267419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477137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D774F-0627-0FF9-8EB2-8E5DD9B80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90544-6695-2DCA-1AEA-5FA4284E0A6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475C14-F8B0-D1E1-FA90-68958CAD786C}"/>
              </a:ext>
            </a:extLst>
          </p:cNvPr>
          <p:cNvSpPr/>
          <p:nvPr/>
        </p:nvSpPr>
        <p:spPr>
          <a:xfrm>
            <a:off x="4350499" y="4132053"/>
            <a:ext cx="3784209" cy="733245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87179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C2EF7-2D0D-139A-75CB-1F0F98FE4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E751-E2D1-2D2F-D864-53CE7675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Install</a:t>
            </a:r>
            <a:r>
              <a:rPr lang="id-ID" dirty="0"/>
              <a:t> Dependensi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46E6C-94CD-9EA5-2283-F0228F09C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b="1" u="sng" dirty="0"/>
              <a:t>LAKUKAN SETIAP PROJECT BARU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59464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3D0E2-2291-5B88-300C-78606167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900587F-DCF9-6B61-81D6-6F3E76128ADA}"/>
              </a:ext>
            </a:extLst>
          </p:cNvPr>
          <p:cNvSpPr txBox="1">
            <a:spLocks/>
          </p:cNvSpPr>
          <p:nvPr/>
        </p:nvSpPr>
        <p:spPr>
          <a:xfrm>
            <a:off x="623888" y="313156"/>
            <a:ext cx="7886700" cy="2093613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atin typeface="Consolas" panose="020B0609020204030204" pitchFamily="49" charset="0"/>
              </a:rPr>
              <a:t>flutter pub add </a:t>
            </a:r>
            <a:r>
              <a:rPr lang="en-US" sz="4800" b="1" dirty="0" err="1">
                <a:latin typeface="Consolas" panose="020B0609020204030204" pitchFamily="49" charset="0"/>
              </a:rPr>
              <a:t>firebase_core</a:t>
            </a:r>
            <a:r>
              <a:rPr lang="en-US" sz="4800" b="1" dirty="0">
                <a:latin typeface="Consolas" panose="020B0609020204030204" pitchFamily="49" charset="0"/>
              </a:rPr>
              <a:t> </a:t>
            </a:r>
            <a:r>
              <a:rPr lang="en-US" sz="4800" b="1" dirty="0" err="1">
                <a:latin typeface="Consolas" panose="020B0609020204030204" pitchFamily="49" charset="0"/>
              </a:rPr>
              <a:t>cloud_firestore</a:t>
            </a:r>
            <a:endParaRPr lang="id-ID" sz="4000" b="1" dirty="0">
              <a:latin typeface="Consolas" panose="020B0609020204030204" pitchFamily="49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6FE091B-8430-494B-F50E-DF7F6B4147E4}"/>
              </a:ext>
            </a:extLst>
          </p:cNvPr>
          <p:cNvSpPr txBox="1">
            <a:spLocks/>
          </p:cNvSpPr>
          <p:nvPr/>
        </p:nvSpPr>
        <p:spPr>
          <a:xfrm>
            <a:off x="623888" y="2406770"/>
            <a:ext cx="7886700" cy="1146908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d-ID" sz="2000" dirty="0"/>
              <a:t>Tambahkan dependensi, bisa di </a:t>
            </a:r>
            <a:r>
              <a:rPr lang="id-ID" sz="2000" dirty="0" err="1"/>
              <a:t>pubspec.yaml</a:t>
            </a:r>
            <a:r>
              <a:rPr lang="id-ID" sz="2000" dirty="0"/>
              <a:t>, </a:t>
            </a:r>
            <a:br>
              <a:rPr lang="id-ID" sz="2000" dirty="0"/>
            </a:br>
            <a:r>
              <a:rPr lang="id-ID" sz="2000" dirty="0"/>
              <a:t>juga bisa otomatis </a:t>
            </a:r>
            <a:r>
              <a:rPr lang="id-ID" sz="2000" dirty="0" err="1"/>
              <a:t>disini</a:t>
            </a:r>
            <a:r>
              <a:rPr lang="id-ID" sz="2000" dirty="0"/>
              <a:t> (termasuk versi terbaru, biar </a:t>
            </a:r>
            <a:r>
              <a:rPr lang="id-ID" sz="2000" dirty="0" err="1"/>
              <a:t>ngga</a:t>
            </a:r>
            <a:r>
              <a:rPr lang="id-ID" sz="2000" dirty="0"/>
              <a:t> cari-cari)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A2FB8C-687E-C46B-59E9-729732EE128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3881887"/>
            <a:ext cx="9144000" cy="297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373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2A128-DA48-FDA3-4090-5251102D1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19B8443-E6B7-86B8-9373-65F6FA3CCE6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7708078-924F-3669-4326-0BE10E346CA8}"/>
              </a:ext>
            </a:extLst>
          </p:cNvPr>
          <p:cNvSpPr/>
          <p:nvPr/>
        </p:nvSpPr>
        <p:spPr>
          <a:xfrm>
            <a:off x="2901262" y="2613804"/>
            <a:ext cx="2360851" cy="577970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05209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361554-5EE6-2518-4032-A52F9CE67B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A02D69A-3AA2-CD9B-C001-B371D99A0B6F}"/>
              </a:ext>
            </a:extLst>
          </p:cNvPr>
          <p:cNvSpPr/>
          <p:nvPr/>
        </p:nvSpPr>
        <p:spPr>
          <a:xfrm>
            <a:off x="679557" y="1300792"/>
            <a:ext cx="1068282" cy="17558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176468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9C913-B849-4DA5-D76A-0C24716E5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8180-0C2D-E2BD-5468-5D1EC635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Buat </a:t>
            </a:r>
            <a:r>
              <a:rPr lang="id-ID" dirty="0" err="1"/>
              <a:t>Database</a:t>
            </a:r>
            <a:r>
              <a:rPr lang="id-ID" dirty="0"/>
              <a:t> Baru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B32D7-6550-C6FB-DF52-FE09010E2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b="1" u="sng" dirty="0"/>
              <a:t>LAKUKAN SETIAP PROJECT BARU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376662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A72665-6B6B-A06E-F665-15F4C1CDD0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DB51898-E25D-9851-8361-C1BA1B0B6ACC}"/>
              </a:ext>
            </a:extLst>
          </p:cNvPr>
          <p:cNvSpPr/>
          <p:nvPr/>
        </p:nvSpPr>
        <p:spPr>
          <a:xfrm>
            <a:off x="69011" y="2769079"/>
            <a:ext cx="2303253" cy="40661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5F8C8D-C798-98F8-9913-7045D1E151B0}"/>
              </a:ext>
            </a:extLst>
          </p:cNvPr>
          <p:cNvSpPr/>
          <p:nvPr/>
        </p:nvSpPr>
        <p:spPr>
          <a:xfrm>
            <a:off x="0" y="4609042"/>
            <a:ext cx="2441275" cy="49779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6E6A77-14D7-5336-67B3-0E6891E369C4}"/>
              </a:ext>
            </a:extLst>
          </p:cNvPr>
          <p:cNvSpPr/>
          <p:nvPr/>
        </p:nvSpPr>
        <p:spPr>
          <a:xfrm>
            <a:off x="2567796" y="3622755"/>
            <a:ext cx="1564257" cy="49779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9ED79C-DB2D-ACF4-A4FF-A5B24B77CF4B}"/>
              </a:ext>
            </a:extLst>
          </p:cNvPr>
          <p:cNvSpPr txBox="1"/>
          <p:nvPr/>
        </p:nvSpPr>
        <p:spPr>
          <a:xfrm>
            <a:off x="2074746" y="2261247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FD69D-D1D8-1282-92C7-A323C880E355}"/>
              </a:ext>
            </a:extLst>
          </p:cNvPr>
          <p:cNvSpPr txBox="1"/>
          <p:nvPr/>
        </p:nvSpPr>
        <p:spPr>
          <a:xfrm>
            <a:off x="2143757" y="4120550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EBD357-5510-DE96-A32F-5FF58EF48E70}"/>
              </a:ext>
            </a:extLst>
          </p:cNvPr>
          <p:cNvSpPr txBox="1"/>
          <p:nvPr/>
        </p:nvSpPr>
        <p:spPr>
          <a:xfrm>
            <a:off x="3851975" y="3104887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769333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E6D81B-4A36-509D-9E4A-61CD825CAE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588C98-5FAE-0F4B-E39B-1716768A15B8}"/>
              </a:ext>
            </a:extLst>
          </p:cNvPr>
          <p:cNvSpPr/>
          <p:nvPr/>
        </p:nvSpPr>
        <p:spPr>
          <a:xfrm>
            <a:off x="1800045" y="2570332"/>
            <a:ext cx="3065253" cy="13288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C2576-55AB-D775-2158-4D79424E7BE1}"/>
              </a:ext>
            </a:extLst>
          </p:cNvPr>
          <p:cNvSpPr txBox="1"/>
          <p:nvPr/>
        </p:nvSpPr>
        <p:spPr>
          <a:xfrm>
            <a:off x="4572000" y="2130103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345091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A261EA-E683-88D1-BEA6-CF1B038F05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59"/>
            <a:ext cx="9144000" cy="68532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D9BFF93-C477-308C-3BFD-2352BBE42086}"/>
              </a:ext>
            </a:extLst>
          </p:cNvPr>
          <p:cNvSpPr/>
          <p:nvPr/>
        </p:nvSpPr>
        <p:spPr>
          <a:xfrm>
            <a:off x="1662023" y="4067354"/>
            <a:ext cx="4040037" cy="9704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60C9D7-0E92-49BC-5C41-964E8145E409}"/>
              </a:ext>
            </a:extLst>
          </p:cNvPr>
          <p:cNvSpPr txBox="1"/>
          <p:nvPr/>
        </p:nvSpPr>
        <p:spPr>
          <a:xfrm>
            <a:off x="5404542" y="3559522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290441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471A44-6837-D59D-26C5-D5E0285444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1A754E-6E90-A74A-BC7E-7F4876AFBD21}"/>
              </a:ext>
            </a:extLst>
          </p:cNvPr>
          <p:cNvSpPr/>
          <p:nvPr/>
        </p:nvSpPr>
        <p:spPr>
          <a:xfrm>
            <a:off x="1756915" y="4214003"/>
            <a:ext cx="2357886" cy="158294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02715-EF6D-EC53-3F57-BC684FCD67AE}"/>
              </a:ext>
            </a:extLst>
          </p:cNvPr>
          <p:cNvSpPr txBox="1"/>
          <p:nvPr/>
        </p:nvSpPr>
        <p:spPr>
          <a:xfrm>
            <a:off x="3817283" y="3706171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408647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E32E62-460D-6E8D-B10E-EA2BCF59A8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204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4A80-B59E-EBCE-CE79-CF10AE4E6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103F1-EB5D-EEF7-9206-6AC9E6EC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Coba-coba </a:t>
            </a:r>
            <a:r>
              <a:rPr lang="id-ID" dirty="0" err="1"/>
              <a:t>koding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0232B-13A6-B5D1-4BFA-7BF4B5ACB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d-ID" sz="3600" dirty="0">
                <a:hlinkClick r:id="rId2"/>
              </a:rPr>
              <a:t>github.com/2oog/</a:t>
            </a:r>
            <a:r>
              <a:rPr lang="id-ID" sz="3600" dirty="0" err="1">
                <a:hlinkClick r:id="rId2"/>
              </a:rPr>
              <a:t>mobile_test_firebase</a:t>
            </a:r>
            <a:endParaRPr lang="id-ID" sz="3600" dirty="0"/>
          </a:p>
        </p:txBody>
      </p:sp>
    </p:spTree>
    <p:extLst>
      <p:ext uri="{BB962C8B-B14F-4D97-AF65-F5344CB8AC3E}">
        <p14:creationId xmlns:p14="http://schemas.microsoft.com/office/powerpoint/2010/main" val="13977298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F4FD2F-BFA0-A1E0-3DB2-238C181FB3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7703BD-4638-C05E-CA34-2F00A52A4E27}"/>
              </a:ext>
            </a:extLst>
          </p:cNvPr>
          <p:cNvSpPr/>
          <p:nvPr/>
        </p:nvSpPr>
        <p:spPr>
          <a:xfrm>
            <a:off x="5276492" y="2260120"/>
            <a:ext cx="1227825" cy="4830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260D0-78E1-C914-A0E9-26E6D899FEBA}"/>
              </a:ext>
            </a:extLst>
          </p:cNvPr>
          <p:cNvSpPr/>
          <p:nvPr/>
        </p:nvSpPr>
        <p:spPr>
          <a:xfrm>
            <a:off x="2608055" y="6078746"/>
            <a:ext cx="1360096" cy="48307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30397-03F0-4823-D225-690B18F513A3}"/>
              </a:ext>
            </a:extLst>
          </p:cNvPr>
          <p:cNvSpPr txBox="1"/>
          <p:nvPr/>
        </p:nvSpPr>
        <p:spPr>
          <a:xfrm>
            <a:off x="6206799" y="1752288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94635A-B204-B7DC-E307-3D2091DB0C98}"/>
              </a:ext>
            </a:extLst>
          </p:cNvPr>
          <p:cNvSpPr txBox="1"/>
          <p:nvPr/>
        </p:nvSpPr>
        <p:spPr>
          <a:xfrm>
            <a:off x="3745394" y="5570914"/>
            <a:ext cx="5950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60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121790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D06317-C454-B7B9-56D4-B3580A9C584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379"/>
            <a:ext cx="9144000" cy="685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85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</TotalTime>
  <Words>689</Words>
  <Application>Microsoft Office PowerPoint</Application>
  <PresentationFormat>On-screen Show (4:3)</PresentationFormat>
  <Paragraphs>104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Consolas</vt:lpstr>
      <vt:lpstr>Office Theme</vt:lpstr>
      <vt:lpstr>Flutter + Firebase</vt:lpstr>
      <vt:lpstr>Setting/Daftar Firebase</vt:lpstr>
      <vt:lpstr>PowerPoint Presentation</vt:lpstr>
      <vt:lpstr>PowerPoint Presentation</vt:lpstr>
      <vt:lpstr>PowerPoint Presentation</vt:lpstr>
      <vt:lpstr>PowerPoint Presentation</vt:lpstr>
      <vt:lpstr>Set Up Firebase</vt:lpstr>
      <vt:lpstr>PowerPoint Presentation</vt:lpstr>
      <vt:lpstr>PowerPoint Presentation</vt:lpstr>
      <vt:lpstr>PowerPoint Presentation</vt:lpstr>
      <vt:lpstr>PowerPoint Presentation</vt:lpstr>
      <vt:lpstr>Set Up Firebase</vt:lpstr>
      <vt:lpstr>PowerPoint Presentation</vt:lpstr>
      <vt:lpstr>PowerPoint Presentation</vt:lpstr>
      <vt:lpstr>PowerPoint Presentation</vt:lpstr>
      <vt:lpstr>ALT+F12</vt:lpstr>
      <vt:lpstr>PowerPoint Presentation</vt:lpstr>
      <vt:lpstr>Set Up Firebase</vt:lpstr>
      <vt:lpstr>PowerPoint Presentation</vt:lpstr>
      <vt:lpstr>Set Up Firebase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 Up Firebase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Install Dependensi</vt:lpstr>
      <vt:lpstr>PowerPoint Presentation</vt:lpstr>
      <vt:lpstr>PowerPoint Presentation</vt:lpstr>
      <vt:lpstr>PowerPoint Presentation</vt:lpstr>
      <vt:lpstr>Buat Database Baru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Coba-coba koding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Ghifari Lazawardi</dc:creator>
  <cp:lastModifiedBy>Muhammad Ghifari Lazawardi</cp:lastModifiedBy>
  <cp:revision>4</cp:revision>
  <dcterms:created xsi:type="dcterms:W3CDTF">2025-11-15T18:54:11Z</dcterms:created>
  <dcterms:modified xsi:type="dcterms:W3CDTF">2025-11-15T23:12:54Z</dcterms:modified>
</cp:coreProperties>
</file>